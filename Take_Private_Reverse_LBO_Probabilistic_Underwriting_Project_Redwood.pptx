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566928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30936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PRIVATE EQUITY</a:t>
            </a:r>
            <a:endParaRPr lang="en-US" sz="740" dirty="0"/>
          </a:p>
        </p:txBody>
      </p:sp>
      <p:sp>
        <p:nvSpPr>
          <p:cNvPr id="4" name="Shape 2"/>
          <p:cNvSpPr/>
          <p:nvPr/>
        </p:nvSpPr>
        <p:spPr>
          <a:xfrm>
            <a:off x="2057400" y="566928"/>
            <a:ext cx="1600200" cy="2743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30552" y="630936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TRANSACTION MODEL</a:t>
            </a:r>
            <a:endParaRPr lang="en-US" sz="740" dirty="0"/>
          </a:p>
        </p:txBody>
      </p:sp>
      <p:sp>
        <p:nvSpPr>
          <p:cNvPr id="6" name="Shape 4"/>
          <p:cNvSpPr/>
          <p:nvPr/>
        </p:nvSpPr>
        <p:spPr>
          <a:xfrm>
            <a:off x="3767328" y="566928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630936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PYTHON RISK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621792" y="1078992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TAKE-PRIVATE REVERSE LBO &amp;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PROBABILISTIC UNDERWRITING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640080" y="224942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3E0"/>
                </a:solidFill>
              </a:rPr>
              <a:t>Project Redwood | Fictional Private Equity Case Study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28163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A9BD"/>
                </a:solidFill>
              </a:rPr>
              <a:t>Core underwriting question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3090672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What is the highest price a sponsor can pay while preserving return hurdles, debt capacity and downside protection?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571232" y="777240"/>
            <a:ext cx="3886200" cy="3246120"/>
          </a:xfrm>
          <a:prstGeom prst="roundRect">
            <a:avLst>
              <a:gd name="adj" fmla="val 1972"/>
            </a:avLst>
          </a:prstGeom>
          <a:solidFill>
            <a:srgbClr val="17324D"/>
          </a:solidFill>
          <a:ln w="12700">
            <a:solidFill>
              <a:srgbClr val="2948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45552" y="106070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Investment committee snapshot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45552" y="1490472"/>
            <a:ext cx="1536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FC1D4"/>
                </a:solidFill>
              </a:rPr>
              <a:t>Seller ask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9372600" y="14813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8.5x EBITDA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7845552" y="1737360"/>
            <a:ext cx="3264408" cy="0"/>
          </a:xfrm>
          <a:prstGeom prst="line">
            <a:avLst/>
          </a:prstGeom>
          <a:noFill/>
          <a:ln w="8890">
            <a:solidFill>
              <a:srgbClr val="2948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45552" y="1938528"/>
            <a:ext cx="1536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FC1D4"/>
                </a:solidFill>
              </a:rPr>
              <a:t>Base-case return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9372600" y="192938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22.3% gross IRR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7845552" y="2185416"/>
            <a:ext cx="3264408" cy="0"/>
          </a:xfrm>
          <a:prstGeom prst="line">
            <a:avLst/>
          </a:prstGeom>
          <a:noFill/>
          <a:ln w="8890">
            <a:solidFill>
              <a:srgbClr val="2948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45552" y="2386584"/>
            <a:ext cx="1536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FC1D4"/>
                </a:solidFill>
              </a:rPr>
              <a:t>Deterministic max bid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9372600" y="23774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8.1x EBITDA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7845552" y="2633472"/>
            <a:ext cx="3264408" cy="0"/>
          </a:xfrm>
          <a:prstGeom prst="line">
            <a:avLst/>
          </a:prstGeom>
          <a:noFill/>
          <a:ln w="8890">
            <a:solidFill>
              <a:srgbClr val="2948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45552" y="2834640"/>
            <a:ext cx="1536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FC1D4"/>
                </a:solidFill>
              </a:rPr>
              <a:t>Risk-adjusted bid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9372600" y="28254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8.0x @ 50% probability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7845552" y="3081528"/>
            <a:ext cx="3264408" cy="0"/>
          </a:xfrm>
          <a:prstGeom prst="line">
            <a:avLst/>
          </a:prstGeom>
          <a:noFill/>
          <a:ln w="8890">
            <a:solidFill>
              <a:srgbClr val="2948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45552" y="3282696"/>
            <a:ext cx="1536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FC1D4"/>
                </a:solidFill>
              </a:rPr>
              <a:t>Probability at ask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9372600" y="32735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32.9% hit 25% IRR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640080" y="4416552"/>
            <a:ext cx="2331720" cy="1143000"/>
          </a:xfrm>
          <a:prstGeom prst="roundRect">
            <a:avLst>
              <a:gd name="adj" fmla="val 560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416552"/>
            <a:ext cx="73152" cy="11430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4553712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8.5x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41248" y="4937760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C6D3E0"/>
                </a:solidFill>
              </a:rPr>
              <a:t>Seller ask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841248" y="5193792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FC1D4"/>
                </a:solidFill>
              </a:rPr>
              <a:t>Entry EV / EBITDA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182112" y="4416552"/>
            <a:ext cx="2331720" cy="1143000"/>
          </a:xfrm>
          <a:prstGeom prst="roundRect">
            <a:avLst>
              <a:gd name="adj" fmla="val 560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82112" y="4416552"/>
            <a:ext cx="73152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4553712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22.3%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383280" y="4937760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C6D3E0"/>
                </a:solidFill>
              </a:rPr>
              <a:t>Base-case gross IRR</a:t>
            </a:r>
            <a:endParaRPr lang="en-US" sz="840" dirty="0"/>
          </a:p>
        </p:txBody>
      </p:sp>
      <p:sp>
        <p:nvSpPr>
          <p:cNvPr id="37" name="Text 35"/>
          <p:cNvSpPr/>
          <p:nvPr/>
        </p:nvSpPr>
        <p:spPr>
          <a:xfrm>
            <a:off x="3383280" y="5193792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FC1D4"/>
                </a:solidFill>
              </a:rPr>
              <a:t>vs 25.0% hurdle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724144" y="4416552"/>
            <a:ext cx="2331720" cy="1143000"/>
          </a:xfrm>
          <a:prstGeom prst="roundRect">
            <a:avLst>
              <a:gd name="adj" fmla="val 560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24144" y="4416552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25312" y="4553712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8.1x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925312" y="4937760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C6D3E0"/>
                </a:solidFill>
              </a:rPr>
              <a:t>Deterministic max bid</a:t>
            </a:r>
            <a:endParaRPr lang="en-US" sz="840" dirty="0"/>
          </a:p>
        </p:txBody>
      </p:sp>
      <p:sp>
        <p:nvSpPr>
          <p:cNvPr id="42" name="Text 40"/>
          <p:cNvSpPr/>
          <p:nvPr/>
        </p:nvSpPr>
        <p:spPr>
          <a:xfrm>
            <a:off x="5925312" y="5193792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FC1D4"/>
                </a:solidFill>
              </a:rPr>
              <a:t>IRR hurdle is binding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8266176" y="4416552"/>
            <a:ext cx="2331720" cy="1143000"/>
          </a:xfrm>
          <a:prstGeom prst="roundRect">
            <a:avLst>
              <a:gd name="adj" fmla="val 560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66176" y="4416552"/>
            <a:ext cx="73152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67344" y="4553712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10,000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8467344" y="4937760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C6D3E0"/>
                </a:solidFill>
              </a:rPr>
              <a:t>Synthetic deal paths</a:t>
            </a:r>
            <a:endParaRPr lang="en-US" sz="840" dirty="0"/>
          </a:p>
        </p:txBody>
      </p:sp>
      <p:sp>
        <p:nvSpPr>
          <p:cNvPr id="47" name="Text 45"/>
          <p:cNvSpPr/>
          <p:nvPr/>
        </p:nvSpPr>
        <p:spPr>
          <a:xfrm>
            <a:off x="8467344" y="5193792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FC1D4"/>
                </a:solidFill>
              </a:rPr>
              <a:t>Correlated underwriting scenarios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02920" y="6547104"/>
            <a:ext cx="6949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AFC1D4"/>
                </a:solidFill>
              </a:rPr>
              <a:t>PROJECT REDWOOD | FICTIONAL EDUCATIONAL CASE STUDY | SYNTHETIC ASSUMPTIONS</a:t>
            </a:r>
            <a:endParaRPr lang="en-US" sz="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seller ask is a pricing question, not just an LBO output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85216" y="8046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</a:rPr>
              <a:t>The model starts with transaction mechanics, then asks whether the capital structure and exit case support the required sponsor return.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80744"/>
            <a:ext cx="1636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Entry</a:t>
            </a:r>
            <a:endParaRPr lang="en-US" sz="760" dirty="0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8.5x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1636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EV / EBITDA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2596896" y="1517904"/>
            <a:ext cx="246888" cy="31089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44368" y="123444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380744"/>
            <a:ext cx="1636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Financing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3063240" y="160020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5.0x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63240" y="1874520"/>
            <a:ext cx="1636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Gross leverage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4882896" y="1517904"/>
            <a:ext cx="246888" cy="31089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0368" y="123444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1380744"/>
            <a:ext cx="1636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Hold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5349240" y="160020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5 years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49240" y="1874520"/>
            <a:ext cx="1636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Operating + debt paydown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7168896" y="1517904"/>
            <a:ext cx="246888" cy="31089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16368" y="123444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1380744"/>
            <a:ext cx="1636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Exit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7635240" y="160020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9.5x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35240" y="1874520"/>
            <a:ext cx="1636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EV / EBITDA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9454896" y="1517904"/>
            <a:ext cx="246888" cy="31089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02368" y="123444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21240" y="1380744"/>
            <a:ext cx="1636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Return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9921240" y="160020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22.3%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21240" y="1874520"/>
            <a:ext cx="1636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Gross IRR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685800" y="24963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Sources &amp; uses at close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5800" y="2816352"/>
            <a:ext cx="1600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2916936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Uses ($mm)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2286000" y="2816352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59152" y="2916936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Amount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3200400" y="2816352"/>
            <a:ext cx="1600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3552" y="2916936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Sources ($mm)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4800600" y="2816352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73752" y="2916936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Amount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685800" y="3200400"/>
            <a:ext cx="16002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" y="3300984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Equity purchase price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2286000" y="3200400"/>
            <a:ext cx="9144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59152" y="3300984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479.9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3200400" y="3200400"/>
            <a:ext cx="16002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73552" y="3300984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Term Loan B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4800600" y="3200400"/>
            <a:ext cx="9144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73752" y="3300984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247.0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685800" y="3584448"/>
            <a:ext cx="16002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8952" y="3685032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Refinance net debt</a:t>
            </a:r>
            <a:endParaRPr lang="en-US" sz="840" dirty="0"/>
          </a:p>
        </p:txBody>
      </p:sp>
      <p:sp>
        <p:nvSpPr>
          <p:cNvPr id="47" name="Shape 45"/>
          <p:cNvSpPr/>
          <p:nvPr/>
        </p:nvSpPr>
        <p:spPr>
          <a:xfrm>
            <a:off x="2286000" y="3584448"/>
            <a:ext cx="9144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59152" y="3685032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45.0</a:t>
            </a:r>
            <a:endParaRPr lang="en-US" sz="840" dirty="0"/>
          </a:p>
        </p:txBody>
      </p:sp>
      <p:sp>
        <p:nvSpPr>
          <p:cNvPr id="49" name="Shape 47"/>
          <p:cNvSpPr/>
          <p:nvPr/>
        </p:nvSpPr>
        <p:spPr>
          <a:xfrm>
            <a:off x="3200400" y="3584448"/>
            <a:ext cx="16002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73552" y="3685032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Second-lien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4800600" y="3584448"/>
            <a:ext cx="9144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73752" y="3685032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61.8</a:t>
            </a:r>
            <a:endParaRPr lang="en-US" sz="840" dirty="0"/>
          </a:p>
        </p:txBody>
      </p:sp>
      <p:sp>
        <p:nvSpPr>
          <p:cNvPr id="53" name="Shape 51"/>
          <p:cNvSpPr/>
          <p:nvPr/>
        </p:nvSpPr>
        <p:spPr>
          <a:xfrm>
            <a:off x="685800" y="3968496"/>
            <a:ext cx="16002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8952" y="4069080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Minimum cash + fees</a:t>
            </a:r>
            <a:endParaRPr lang="en-US" sz="840" dirty="0"/>
          </a:p>
        </p:txBody>
      </p:sp>
      <p:sp>
        <p:nvSpPr>
          <p:cNvPr id="55" name="Shape 53"/>
          <p:cNvSpPr/>
          <p:nvPr/>
        </p:nvSpPr>
        <p:spPr>
          <a:xfrm>
            <a:off x="2286000" y="3968496"/>
            <a:ext cx="9144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59152" y="4069080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26.7</a:t>
            </a:r>
            <a:endParaRPr lang="en-US" sz="840" dirty="0"/>
          </a:p>
        </p:txBody>
      </p:sp>
      <p:sp>
        <p:nvSpPr>
          <p:cNvPr id="57" name="Shape 55"/>
          <p:cNvSpPr/>
          <p:nvPr/>
        </p:nvSpPr>
        <p:spPr>
          <a:xfrm>
            <a:off x="3200400" y="3968496"/>
            <a:ext cx="16002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73552" y="4069080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Management rollover</a:t>
            </a:r>
            <a:endParaRPr lang="en-US" sz="840" dirty="0"/>
          </a:p>
        </p:txBody>
      </p:sp>
      <p:sp>
        <p:nvSpPr>
          <p:cNvPr id="59" name="Shape 57"/>
          <p:cNvSpPr/>
          <p:nvPr/>
        </p:nvSpPr>
        <p:spPr>
          <a:xfrm>
            <a:off x="4800600" y="3968496"/>
            <a:ext cx="9144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73752" y="4069080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19.4</a:t>
            </a:r>
            <a:endParaRPr lang="en-US" sz="840" dirty="0"/>
          </a:p>
        </p:txBody>
      </p:sp>
      <p:sp>
        <p:nvSpPr>
          <p:cNvPr id="61" name="Shape 59"/>
          <p:cNvSpPr/>
          <p:nvPr/>
        </p:nvSpPr>
        <p:spPr>
          <a:xfrm>
            <a:off x="685800" y="4352544"/>
            <a:ext cx="16002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8952" y="4453128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Total uses</a:t>
            </a:r>
            <a:endParaRPr lang="en-US" sz="840" dirty="0"/>
          </a:p>
        </p:txBody>
      </p:sp>
      <p:sp>
        <p:nvSpPr>
          <p:cNvPr id="63" name="Shape 61"/>
          <p:cNvSpPr/>
          <p:nvPr/>
        </p:nvSpPr>
        <p:spPr>
          <a:xfrm>
            <a:off x="2286000" y="4352544"/>
            <a:ext cx="9144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359152" y="4453128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551.5</a:t>
            </a:r>
            <a:endParaRPr lang="en-US" sz="840" dirty="0"/>
          </a:p>
        </p:txBody>
      </p:sp>
      <p:sp>
        <p:nvSpPr>
          <p:cNvPr id="65" name="Shape 63"/>
          <p:cNvSpPr/>
          <p:nvPr/>
        </p:nvSpPr>
        <p:spPr>
          <a:xfrm>
            <a:off x="3200400" y="4352544"/>
            <a:ext cx="16002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73552" y="4453128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Sponsor equity</a:t>
            </a:r>
            <a:endParaRPr lang="en-US" sz="840" dirty="0"/>
          </a:p>
        </p:txBody>
      </p:sp>
      <p:sp>
        <p:nvSpPr>
          <p:cNvPr id="67" name="Shape 65"/>
          <p:cNvSpPr/>
          <p:nvPr/>
        </p:nvSpPr>
        <p:spPr>
          <a:xfrm>
            <a:off x="4800600" y="4352544"/>
            <a:ext cx="9144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73752" y="4453128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223.4</a:t>
            </a:r>
            <a:endParaRPr lang="en-US" sz="840" dirty="0"/>
          </a:p>
        </p:txBody>
      </p:sp>
      <p:sp>
        <p:nvSpPr>
          <p:cNvPr id="69" name="Text 67"/>
          <p:cNvSpPr/>
          <p:nvPr/>
        </p:nvSpPr>
        <p:spPr>
          <a:xfrm>
            <a:off x="685800" y="49834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Funding mix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85800" y="5257800"/>
            <a:ext cx="3044952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730752" y="5257800"/>
            <a:ext cx="2350008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508760" y="537667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Debt 56%</a:t>
            </a:r>
            <a:endParaRPr lang="en-US" sz="860" dirty="0"/>
          </a:p>
        </p:txBody>
      </p:sp>
      <p:sp>
        <p:nvSpPr>
          <p:cNvPr id="73" name="Text 71"/>
          <p:cNvSpPr/>
          <p:nvPr/>
        </p:nvSpPr>
        <p:spPr>
          <a:xfrm>
            <a:off x="4233672" y="537667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</a:rPr>
              <a:t>Equity 44%</a:t>
            </a:r>
            <a:endParaRPr lang="en-US" sz="860" dirty="0"/>
          </a:p>
        </p:txBody>
      </p:sp>
      <p:sp>
        <p:nvSpPr>
          <p:cNvPr id="74" name="Shape 72"/>
          <p:cNvSpPr/>
          <p:nvPr/>
        </p:nvSpPr>
        <p:spPr>
          <a:xfrm>
            <a:off x="6446520" y="2578608"/>
            <a:ext cx="5074920" cy="3172968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729984" y="28346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Deterministic underwriting readout</a:t>
            </a:r>
            <a:endParaRPr lang="en-US" sz="1500" dirty="0"/>
          </a:p>
        </p:txBody>
      </p:sp>
      <p:sp>
        <p:nvSpPr>
          <p:cNvPr id="76" name="Shape 74"/>
          <p:cNvSpPr/>
          <p:nvPr/>
        </p:nvSpPr>
        <p:spPr>
          <a:xfrm>
            <a:off x="6720840" y="3255264"/>
            <a:ext cx="210312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720840" y="3255264"/>
            <a:ext cx="73152" cy="9875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922008" y="3392424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2.74x</a:t>
            </a:r>
            <a:endParaRPr lang="en-US" sz="2000" dirty="0"/>
          </a:p>
        </p:txBody>
      </p:sp>
      <p:sp>
        <p:nvSpPr>
          <p:cNvPr id="79" name="Text 77"/>
          <p:cNvSpPr/>
          <p:nvPr/>
        </p:nvSpPr>
        <p:spPr>
          <a:xfrm>
            <a:off x="6922008" y="377647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64748B"/>
                </a:solidFill>
              </a:rPr>
              <a:t>Gross MOIC</a:t>
            </a:r>
            <a:endParaRPr lang="en-US" sz="840" dirty="0"/>
          </a:p>
        </p:txBody>
      </p:sp>
      <p:sp>
        <p:nvSpPr>
          <p:cNvPr id="80" name="Text 78"/>
          <p:cNvSpPr/>
          <p:nvPr/>
        </p:nvSpPr>
        <p:spPr>
          <a:xfrm>
            <a:off x="6922008" y="4032504"/>
            <a:ext cx="1773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Above 2.5x hurdle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9079992" y="3255264"/>
            <a:ext cx="210312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079992" y="3255264"/>
            <a:ext cx="73152" cy="9875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281160" y="3392424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22.3%</a:t>
            </a:r>
            <a:endParaRPr lang="en-US" sz="2000" dirty="0"/>
          </a:p>
        </p:txBody>
      </p:sp>
      <p:sp>
        <p:nvSpPr>
          <p:cNvPr id="84" name="Text 82"/>
          <p:cNvSpPr/>
          <p:nvPr/>
        </p:nvSpPr>
        <p:spPr>
          <a:xfrm>
            <a:off x="9281160" y="377647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64748B"/>
                </a:solidFill>
              </a:rPr>
              <a:t>Gross IRR</a:t>
            </a:r>
            <a:endParaRPr lang="en-US" sz="840" dirty="0"/>
          </a:p>
        </p:txBody>
      </p:sp>
      <p:sp>
        <p:nvSpPr>
          <p:cNvPr id="85" name="Text 83"/>
          <p:cNvSpPr/>
          <p:nvPr/>
        </p:nvSpPr>
        <p:spPr>
          <a:xfrm>
            <a:off x="9281160" y="4032504"/>
            <a:ext cx="1773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Below 25.0% hurdle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6720840" y="4453128"/>
            <a:ext cx="210312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20840" y="4453128"/>
            <a:ext cx="73152" cy="9875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922008" y="459028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2.7x</a:t>
            </a:r>
            <a:endParaRPr lang="en-US" sz="2000" dirty="0"/>
          </a:p>
        </p:txBody>
      </p:sp>
      <p:sp>
        <p:nvSpPr>
          <p:cNvPr id="89" name="Text 87"/>
          <p:cNvSpPr/>
          <p:nvPr/>
        </p:nvSpPr>
        <p:spPr>
          <a:xfrm>
            <a:off x="6922008" y="4974336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64748B"/>
                </a:solidFill>
              </a:rPr>
              <a:t>Minimum coverage</a:t>
            </a:r>
            <a:endParaRPr lang="en-US" sz="840" dirty="0"/>
          </a:p>
        </p:txBody>
      </p:sp>
      <p:sp>
        <p:nvSpPr>
          <p:cNvPr id="90" name="Text 88"/>
          <p:cNvSpPr/>
          <p:nvPr/>
        </p:nvSpPr>
        <p:spPr>
          <a:xfrm>
            <a:off x="6922008" y="5230368"/>
            <a:ext cx="1773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Above 2.0x guardrail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9079992" y="4453128"/>
            <a:ext cx="210312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079992" y="4453128"/>
            <a:ext cx="73152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281160" y="459028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$170.5mm</a:t>
            </a:r>
            <a:endParaRPr lang="en-US" sz="2000" dirty="0"/>
          </a:p>
        </p:txBody>
      </p:sp>
      <p:sp>
        <p:nvSpPr>
          <p:cNvPr id="94" name="Text 92"/>
          <p:cNvSpPr/>
          <p:nvPr/>
        </p:nvSpPr>
        <p:spPr>
          <a:xfrm>
            <a:off x="9281160" y="4974336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64748B"/>
                </a:solidFill>
              </a:rPr>
              <a:t>Exit net debt</a:t>
            </a:r>
            <a:endParaRPr lang="en-US" sz="840" dirty="0"/>
          </a:p>
        </p:txBody>
      </p:sp>
      <p:sp>
        <p:nvSpPr>
          <p:cNvPr id="95" name="Text 93"/>
          <p:cNvSpPr/>
          <p:nvPr/>
        </p:nvSpPr>
        <p:spPr>
          <a:xfrm>
            <a:off x="9281160" y="5230368"/>
            <a:ext cx="1773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Deleveraging drives equity value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6748272" y="5559552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11827"/>
                </a:solidFill>
              </a:rPr>
              <a:t>Key point: the base case is investable-looking, but the asking price does not clear the sponsor IRR hurdle. That creates a real bid / negotiate / walk-away decision.</a:t>
            </a:r>
            <a:endParaRPr lang="en-US" sz="930" dirty="0"/>
          </a:p>
        </p:txBody>
      </p:sp>
      <p:sp>
        <p:nvSpPr>
          <p:cNvPr id="97" name="Text 95"/>
          <p:cNvSpPr/>
          <p:nvPr/>
        </p:nvSpPr>
        <p:spPr>
          <a:xfrm>
            <a:off x="502920" y="6547104"/>
            <a:ext cx="6949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C8A9A"/>
                </a:solidFill>
              </a:rPr>
              <a:t>PROJECT REDWOOD | FICTIONAL EDUCATIONAL CASE STUDY | SYNTHETIC ASSUMPTIONS</a:t>
            </a:r>
            <a:endParaRPr lang="en-US" sz="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Reverse LBO: solve the price before making the bid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85216" y="8046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</a:rPr>
              <a:t>Instead of forcing 8.5x to work, the model backs into the highest price consistent with sponsor return hurdles.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5623560" cy="4297680"/>
          </a:xfrm>
          <a:prstGeom prst="roundRect">
            <a:avLst>
              <a:gd name="adj" fmla="val 148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pic>
        <p:nvPicPr>
          <p:cNvPr id="5" name="Image 0" descr="/mnt/data/project_redwood_final/outputs/bid_gap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325880"/>
            <a:ext cx="5440680" cy="3904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5285232"/>
            <a:ext cx="5404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Bid ceiling under deterministic and probability-based return hurdles</a:t>
            </a:r>
            <a:endParaRPr lang="en-US" sz="720" dirty="0"/>
          </a:p>
        </p:txBody>
      </p:sp>
      <p:sp>
        <p:nvSpPr>
          <p:cNvPr id="7" name="Shape 4"/>
          <p:cNvSpPr/>
          <p:nvPr/>
        </p:nvSpPr>
        <p:spPr>
          <a:xfrm>
            <a:off x="6537960" y="1234440"/>
            <a:ext cx="4983480" cy="4297680"/>
          </a:xfrm>
          <a:prstGeom prst="roundRect">
            <a:avLst>
              <a:gd name="adj" fmla="val 148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39712" y="1536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The bid gap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21424" y="18470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</a:rPr>
              <a:t>8.1x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839712" y="23317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</a:rPr>
              <a:t>maximum deterministic entry multiple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8887968" y="1901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vs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464040" y="18470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B91C1C"/>
                </a:solidFill>
              </a:rPr>
              <a:t>8.5x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9418320" y="23317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64748B"/>
                </a:solidFill>
              </a:rPr>
              <a:t>seller ask</a:t>
            </a:r>
            <a:endParaRPr lang="en-US" sz="840" dirty="0"/>
          </a:p>
        </p:txBody>
      </p:sp>
      <p:sp>
        <p:nvSpPr>
          <p:cNvPr id="14" name="Shape 11"/>
          <p:cNvSpPr/>
          <p:nvPr/>
        </p:nvSpPr>
        <p:spPr>
          <a:xfrm>
            <a:off x="6839712" y="2670048"/>
            <a:ext cx="41148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39712" y="290779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64748B"/>
                </a:solidFill>
              </a:rPr>
              <a:t>Implied bid gap</a:t>
            </a: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6839712" y="318211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1C1C"/>
                </a:solidFill>
              </a:rPr>
              <a:t>(0.4x) / ($24.5mm EV)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839712" y="3749040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1F33"/>
                </a:solidFill>
              </a:rPr>
              <a:t>If the sponsor still pays 8.5x, one of these has to improve to reach 25% IRR: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39712" y="4343400"/>
            <a:ext cx="120700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12864" y="449884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+9.1%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912864" y="482803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4748B"/>
                </a:solidFill>
              </a:rPr>
              <a:t>Exit EBITDA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8183880" y="4343400"/>
            <a:ext cx="120700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57032" y="449884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10.4x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257032" y="482803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4748B"/>
                </a:solidFill>
              </a:rPr>
              <a:t>Exit multiple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9528048" y="4343400"/>
            <a:ext cx="120700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601200" y="449884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$76.3mm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9601200" y="482803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4748B"/>
                </a:solidFill>
              </a:rPr>
              <a:t>Additional debt paydown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502920" y="6547104"/>
            <a:ext cx="6949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C8A9A"/>
                </a:solidFill>
              </a:rPr>
              <a:t>PROJECT REDWOOD | FICTIONAL EDUCATIONAL CASE STUDY | SYNTHETIC ASSUMPTIONS</a:t>
            </a:r>
            <a:endParaRPr lang="en-US" sz="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Downside protection matters as much as headline returns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85216" y="8046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</a:rPr>
              <a:t>The deal remains serviceable in the deterministic downside case, but returns compress sharply when growth, margins and exit valuation weaken together.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658368" y="1261872"/>
            <a:ext cx="566928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pic>
        <p:nvPicPr>
          <p:cNvPr id="5" name="Image 0" descr="/mnt/data/project_redwood_final/outputs/scenario_c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353312"/>
            <a:ext cx="5486400" cy="3721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5129784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Downside / base / upside sponsor returns</a:t>
            </a:r>
            <a:endParaRPr lang="en-US" sz="720" dirty="0"/>
          </a:p>
        </p:txBody>
      </p:sp>
      <p:sp>
        <p:nvSpPr>
          <p:cNvPr id="7" name="Shape 4"/>
          <p:cNvSpPr/>
          <p:nvPr/>
        </p:nvSpPr>
        <p:spPr>
          <a:xfrm>
            <a:off x="6583680" y="1261872"/>
            <a:ext cx="4919472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0" y="15361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Scenario scorecard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39712" y="1920240"/>
            <a:ext cx="12984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12864" y="2020824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Scenario</a:t>
            </a:r>
            <a:endParaRPr lang="en-US" sz="840" dirty="0"/>
          </a:p>
        </p:txBody>
      </p:sp>
      <p:sp>
        <p:nvSpPr>
          <p:cNvPr id="11" name="Shape 8"/>
          <p:cNvSpPr/>
          <p:nvPr/>
        </p:nvSpPr>
        <p:spPr>
          <a:xfrm>
            <a:off x="8138160" y="1920240"/>
            <a:ext cx="93268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11312" y="2020824"/>
            <a:ext cx="786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IRR</a:t>
            </a:r>
            <a:endParaRPr lang="en-US" sz="840" dirty="0"/>
          </a:p>
        </p:txBody>
      </p:sp>
      <p:sp>
        <p:nvSpPr>
          <p:cNvPr id="13" name="Shape 10"/>
          <p:cNvSpPr/>
          <p:nvPr/>
        </p:nvSpPr>
        <p:spPr>
          <a:xfrm>
            <a:off x="9070848" y="1920240"/>
            <a:ext cx="93268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0" y="2020824"/>
            <a:ext cx="786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MOIC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10003536" y="1920240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76688" y="2020824"/>
            <a:ext cx="1042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Min coverage</a:t>
            </a:r>
            <a:endParaRPr lang="en-US" sz="840" dirty="0"/>
          </a:p>
        </p:txBody>
      </p:sp>
      <p:sp>
        <p:nvSpPr>
          <p:cNvPr id="17" name="Shape 14"/>
          <p:cNvSpPr/>
          <p:nvPr/>
        </p:nvSpPr>
        <p:spPr>
          <a:xfrm>
            <a:off x="6839712" y="2304288"/>
            <a:ext cx="1298448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12864" y="2404872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Downside</a:t>
            </a:r>
            <a:endParaRPr lang="en-US" sz="840" dirty="0"/>
          </a:p>
        </p:txBody>
      </p:sp>
      <p:sp>
        <p:nvSpPr>
          <p:cNvPr id="19" name="Shape 16"/>
          <p:cNvSpPr/>
          <p:nvPr/>
        </p:nvSpPr>
        <p:spPr>
          <a:xfrm>
            <a:off x="8138160" y="2304288"/>
            <a:ext cx="932688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11312" y="2404872"/>
            <a:ext cx="786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10.6%</a:t>
            </a:r>
            <a:endParaRPr lang="en-US" sz="840" dirty="0"/>
          </a:p>
        </p:txBody>
      </p:sp>
      <p:sp>
        <p:nvSpPr>
          <p:cNvPr id="21" name="Shape 18"/>
          <p:cNvSpPr/>
          <p:nvPr/>
        </p:nvSpPr>
        <p:spPr>
          <a:xfrm>
            <a:off x="9070848" y="2304288"/>
            <a:ext cx="932688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0" y="2404872"/>
            <a:ext cx="786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1.65x</a:t>
            </a:r>
            <a:endParaRPr lang="en-US" sz="840" dirty="0"/>
          </a:p>
        </p:txBody>
      </p:sp>
      <p:sp>
        <p:nvSpPr>
          <p:cNvPr id="23" name="Shape 20"/>
          <p:cNvSpPr/>
          <p:nvPr/>
        </p:nvSpPr>
        <p:spPr>
          <a:xfrm>
            <a:off x="10003536" y="2304288"/>
            <a:ext cx="118872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076688" y="2404872"/>
            <a:ext cx="1042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2.16x</a:t>
            </a:r>
            <a:endParaRPr lang="en-US" sz="840" dirty="0"/>
          </a:p>
        </p:txBody>
      </p:sp>
      <p:sp>
        <p:nvSpPr>
          <p:cNvPr id="25" name="Shape 22"/>
          <p:cNvSpPr/>
          <p:nvPr/>
        </p:nvSpPr>
        <p:spPr>
          <a:xfrm>
            <a:off x="6839712" y="2688336"/>
            <a:ext cx="1298448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12864" y="278892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Base</a:t>
            </a:r>
            <a:endParaRPr lang="en-US" sz="840" dirty="0"/>
          </a:p>
        </p:txBody>
      </p:sp>
      <p:sp>
        <p:nvSpPr>
          <p:cNvPr id="27" name="Shape 24"/>
          <p:cNvSpPr/>
          <p:nvPr/>
        </p:nvSpPr>
        <p:spPr>
          <a:xfrm>
            <a:off x="8138160" y="2688336"/>
            <a:ext cx="932688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11312" y="2788920"/>
            <a:ext cx="786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22.3%</a:t>
            </a:r>
            <a:endParaRPr lang="en-US" sz="840" dirty="0"/>
          </a:p>
        </p:txBody>
      </p:sp>
      <p:sp>
        <p:nvSpPr>
          <p:cNvPr id="29" name="Shape 26"/>
          <p:cNvSpPr/>
          <p:nvPr/>
        </p:nvSpPr>
        <p:spPr>
          <a:xfrm>
            <a:off x="9070848" y="2688336"/>
            <a:ext cx="932688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144000" y="2788920"/>
            <a:ext cx="786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2.74x</a:t>
            </a:r>
            <a:endParaRPr lang="en-US" sz="840" dirty="0"/>
          </a:p>
        </p:txBody>
      </p:sp>
      <p:sp>
        <p:nvSpPr>
          <p:cNvPr id="31" name="Shape 28"/>
          <p:cNvSpPr/>
          <p:nvPr/>
        </p:nvSpPr>
        <p:spPr>
          <a:xfrm>
            <a:off x="10003536" y="2688336"/>
            <a:ext cx="118872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076688" y="2788920"/>
            <a:ext cx="1042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2.71x</a:t>
            </a:r>
            <a:endParaRPr lang="en-US" sz="840" dirty="0"/>
          </a:p>
        </p:txBody>
      </p:sp>
      <p:sp>
        <p:nvSpPr>
          <p:cNvPr id="33" name="Shape 30"/>
          <p:cNvSpPr/>
          <p:nvPr/>
        </p:nvSpPr>
        <p:spPr>
          <a:xfrm>
            <a:off x="6839712" y="3072384"/>
            <a:ext cx="1298448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12864" y="3172968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Upside</a:t>
            </a:r>
            <a:endParaRPr lang="en-US" sz="840" dirty="0"/>
          </a:p>
        </p:txBody>
      </p:sp>
      <p:sp>
        <p:nvSpPr>
          <p:cNvPr id="35" name="Shape 32"/>
          <p:cNvSpPr/>
          <p:nvPr/>
        </p:nvSpPr>
        <p:spPr>
          <a:xfrm>
            <a:off x="8138160" y="3072384"/>
            <a:ext cx="932688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211312" y="3172968"/>
            <a:ext cx="786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30.0%</a:t>
            </a:r>
            <a:endParaRPr lang="en-US" sz="840" dirty="0"/>
          </a:p>
        </p:txBody>
      </p:sp>
      <p:sp>
        <p:nvSpPr>
          <p:cNvPr id="37" name="Shape 34"/>
          <p:cNvSpPr/>
          <p:nvPr/>
        </p:nvSpPr>
        <p:spPr>
          <a:xfrm>
            <a:off x="9070848" y="3072384"/>
            <a:ext cx="932688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144000" y="3172968"/>
            <a:ext cx="7863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3.72x</a:t>
            </a:r>
            <a:endParaRPr lang="en-US" sz="840" dirty="0"/>
          </a:p>
        </p:txBody>
      </p:sp>
      <p:sp>
        <p:nvSpPr>
          <p:cNvPr id="39" name="Shape 36"/>
          <p:cNvSpPr/>
          <p:nvPr/>
        </p:nvSpPr>
        <p:spPr>
          <a:xfrm>
            <a:off x="10003536" y="3072384"/>
            <a:ext cx="118872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76688" y="3172968"/>
            <a:ext cx="1042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3.05x</a:t>
            </a:r>
            <a:endParaRPr lang="en-US" sz="840" dirty="0"/>
          </a:p>
        </p:txBody>
      </p:sp>
      <p:sp>
        <p:nvSpPr>
          <p:cNvPr id="41" name="Text 38"/>
          <p:cNvSpPr/>
          <p:nvPr/>
        </p:nvSpPr>
        <p:spPr>
          <a:xfrm>
            <a:off x="6858000" y="3703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Credit guardrails in the 10,000-path simulation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839712" y="4041648"/>
            <a:ext cx="199339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839712" y="4041648"/>
            <a:ext cx="73152" cy="9144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040880" y="417880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0.6%</a:t>
            </a:r>
            <a:endParaRPr lang="en-US" sz="2000" dirty="0"/>
          </a:p>
        </p:txBody>
      </p:sp>
      <p:sp>
        <p:nvSpPr>
          <p:cNvPr id="45" name="Text 42"/>
          <p:cNvSpPr/>
          <p:nvPr/>
        </p:nvSpPr>
        <p:spPr>
          <a:xfrm>
            <a:off x="7040880" y="456285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64748B"/>
                </a:solidFill>
              </a:rPr>
              <a:t>P(coverage &lt; 2.0x)</a:t>
            </a:r>
            <a:endParaRPr lang="en-US" sz="840" dirty="0"/>
          </a:p>
        </p:txBody>
      </p:sp>
      <p:sp>
        <p:nvSpPr>
          <p:cNvPr id="46" name="Text 43"/>
          <p:cNvSpPr/>
          <p:nvPr/>
        </p:nvSpPr>
        <p:spPr>
          <a:xfrm>
            <a:off x="7040880" y="4818888"/>
            <a:ext cx="1664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Synthetic paths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9079992" y="4041648"/>
            <a:ext cx="199339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9079992" y="4041648"/>
            <a:ext cx="73152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281160" y="417880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0.1%</a:t>
            </a:r>
            <a:endParaRPr lang="en-US" sz="2000" dirty="0"/>
          </a:p>
        </p:txBody>
      </p:sp>
      <p:sp>
        <p:nvSpPr>
          <p:cNvPr id="50" name="Text 47"/>
          <p:cNvSpPr/>
          <p:nvPr/>
        </p:nvSpPr>
        <p:spPr>
          <a:xfrm>
            <a:off x="9281160" y="456285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64748B"/>
                </a:solidFill>
              </a:rPr>
              <a:t>P(RCF draw)</a:t>
            </a:r>
            <a:endParaRPr lang="en-US" sz="840" dirty="0"/>
          </a:p>
        </p:txBody>
      </p:sp>
      <p:sp>
        <p:nvSpPr>
          <p:cNvPr id="51" name="Text 48"/>
          <p:cNvSpPr/>
          <p:nvPr/>
        </p:nvSpPr>
        <p:spPr>
          <a:xfrm>
            <a:off x="9281160" y="4818888"/>
            <a:ext cx="1664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Liquidity backstop used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6858000" y="517550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F33"/>
                </a:solidFill>
              </a:rPr>
              <a:t>Interpretation: the capital structure is not the main reason to reject the ask. The bigger issue is price relative to the required equity return.</a:t>
            </a:r>
            <a:endParaRPr lang="en-US" sz="920" dirty="0"/>
          </a:p>
        </p:txBody>
      </p:sp>
      <p:sp>
        <p:nvSpPr>
          <p:cNvPr id="53" name="Text 50"/>
          <p:cNvSpPr/>
          <p:nvPr/>
        </p:nvSpPr>
        <p:spPr>
          <a:xfrm>
            <a:off x="502920" y="6547104"/>
            <a:ext cx="6949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C8A9A"/>
                </a:solidFill>
              </a:rPr>
              <a:t>PROJECT REDWOOD | FICTIONAL EDUCATIONAL CASE STUDY | SYNTHETIC ASSUMPTIONS</a:t>
            </a:r>
            <a:endParaRPr lang="en-US" sz="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Probabilistic underwriting: one base case is not enough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85216" y="8046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4748B"/>
                </a:solidFill>
              </a:rPr>
              <a:t>10,000 correlated synthetic paths vary growth, margins, rates and exit valuation, then pass every outcome through the same LBO debt waterfall.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658368" y="1261872"/>
            <a:ext cx="5623560" cy="4069080"/>
          </a:xfrm>
          <a:prstGeom prst="roundRect">
            <a:avLst>
              <a:gd name="adj" fmla="val 15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pic>
        <p:nvPicPr>
          <p:cNvPr id="5" name="Image 0" descr="/mnt/data/project_redwood_final/outputs/irr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353312"/>
            <a:ext cx="5440680" cy="3675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5084064"/>
            <a:ext cx="5404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Distribution of gross IRR across 10,000 paths</a:t>
            </a:r>
            <a:endParaRPr lang="en-US" sz="720" dirty="0"/>
          </a:p>
        </p:txBody>
      </p:sp>
      <p:sp>
        <p:nvSpPr>
          <p:cNvPr id="7" name="Shape 4"/>
          <p:cNvSpPr/>
          <p:nvPr/>
        </p:nvSpPr>
        <p:spPr>
          <a:xfrm>
            <a:off x="6537960" y="1261872"/>
            <a:ext cx="4983480" cy="4069080"/>
          </a:xfrm>
          <a:prstGeom prst="roundRect">
            <a:avLst>
              <a:gd name="adj" fmla="val 15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pic>
        <p:nvPicPr>
          <p:cNvPr id="8" name="Image 1" descr="/mnt/data/project_redwood_final/outputs/bid_probability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353312"/>
            <a:ext cx="4800600" cy="36758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47688" y="5084064"/>
            <a:ext cx="4764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Probability of meeting the 25% IRR hurdle by entry multiple</a:t>
            </a:r>
            <a:endParaRPr lang="en-US" sz="720" dirty="0"/>
          </a:p>
        </p:txBody>
      </p:sp>
      <p:sp>
        <p:nvSpPr>
          <p:cNvPr id="10" name="Shape 6"/>
          <p:cNvSpPr/>
          <p:nvPr/>
        </p:nvSpPr>
        <p:spPr>
          <a:xfrm>
            <a:off x="749808" y="5504688"/>
            <a:ext cx="32461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5504688"/>
            <a:ext cx="73152" cy="7498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50976" y="5641848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32.9%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950976" y="6025896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64748B"/>
                </a:solidFill>
              </a:rPr>
              <a:t>At 8.5x seller ask</a:t>
            </a:r>
            <a:endParaRPr lang="en-US" sz="840" dirty="0"/>
          </a:p>
        </p:txBody>
      </p:sp>
      <p:sp>
        <p:nvSpPr>
          <p:cNvPr id="14" name="Text 10"/>
          <p:cNvSpPr/>
          <p:nvPr/>
        </p:nvSpPr>
        <p:spPr>
          <a:xfrm>
            <a:off x="950976" y="6281928"/>
            <a:ext cx="2916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of paths clear 25% IRR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4416552" y="5504688"/>
            <a:ext cx="299923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416552" y="5504688"/>
            <a:ext cx="73152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17720" y="5641848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8.0x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617720" y="6025896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64748B"/>
                </a:solidFill>
              </a:rPr>
              <a:t>50% probability ceiling</a:t>
            </a:r>
            <a:endParaRPr lang="en-US" sz="840" dirty="0"/>
          </a:p>
        </p:txBody>
      </p:sp>
      <p:sp>
        <p:nvSpPr>
          <p:cNvPr id="19" name="Text 15"/>
          <p:cNvSpPr/>
          <p:nvPr/>
        </p:nvSpPr>
        <p:spPr>
          <a:xfrm>
            <a:off x="4617720" y="6281928"/>
            <a:ext cx="2670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Risk-adjusted bid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7845552" y="5504688"/>
            <a:ext cx="30175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845552" y="5504688"/>
            <a:ext cx="73152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046720" y="5641848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7.5x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8046720" y="6025896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64748B"/>
                </a:solidFill>
              </a:rPr>
              <a:t>75% probability ceiling</a:t>
            </a:r>
            <a:endParaRPr lang="en-US" sz="840" dirty="0"/>
          </a:p>
        </p:txBody>
      </p:sp>
      <p:sp>
        <p:nvSpPr>
          <p:cNvPr id="24" name="Text 20"/>
          <p:cNvSpPr/>
          <p:nvPr/>
        </p:nvSpPr>
        <p:spPr>
          <a:xfrm>
            <a:off x="8046720" y="6281928"/>
            <a:ext cx="2688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Higher confidence = lower bid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502920" y="6547104"/>
            <a:ext cx="6949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C8A9A"/>
                </a:solidFill>
              </a:rPr>
              <a:t>PROJECT REDWOOD | FICTIONAL EDUCATIONAL CASE STUDY | SYNTHETIC ASSUMPTIONS</a:t>
            </a:r>
            <a:endParaRPr lang="en-US" sz="6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Investment committee conclusion: bid discipline, not model engineering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85216" y="8046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C6D3E0"/>
                </a:solidFill>
              </a:rPr>
              <a:t>The framework connects valuation, leverage, operating execution and probability of success into one decision.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5321808" cy="3794760"/>
          </a:xfrm>
          <a:prstGeom prst="roundRect">
            <a:avLst>
              <a:gd name="adj" fmla="val 168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pic>
        <p:nvPicPr>
          <p:cNvPr id="5" name="Image 0" descr="/mnt/data/project_redwood_final/outputs/driver_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389888"/>
            <a:ext cx="5138928" cy="34015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" y="4846320"/>
            <a:ext cx="5102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Spearman rank correlation with gross IRR</a:t>
            </a:r>
            <a:endParaRPr lang="en-US" sz="720" dirty="0"/>
          </a:p>
        </p:txBody>
      </p:sp>
      <p:sp>
        <p:nvSpPr>
          <p:cNvPr id="7" name="Shape 4"/>
          <p:cNvSpPr/>
          <p:nvPr/>
        </p:nvSpPr>
        <p:spPr>
          <a:xfrm>
            <a:off x="6236208" y="1298448"/>
            <a:ext cx="5285232" cy="3794760"/>
          </a:xfrm>
          <a:prstGeom prst="roundRect">
            <a:avLst>
              <a:gd name="adj" fmla="val 168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pic>
        <p:nvPicPr>
          <p:cNvPr id="8" name="Image 1" descr="/mnt/data/project_redwood_final/outputs/exit_multiple_vs_ir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389888"/>
            <a:ext cx="5102352" cy="34015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45936" y="4846320"/>
            <a:ext cx="5065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Exit multiple vs realised gross IRR</a:t>
            </a:r>
            <a:endParaRPr lang="en-US" sz="720" dirty="0"/>
          </a:p>
        </p:txBody>
      </p:sp>
      <p:sp>
        <p:nvSpPr>
          <p:cNvPr id="10" name="Shape 6"/>
          <p:cNvSpPr/>
          <p:nvPr/>
        </p:nvSpPr>
        <p:spPr>
          <a:xfrm>
            <a:off x="658368" y="5321808"/>
            <a:ext cx="10863072" cy="896112"/>
          </a:xfrm>
          <a:prstGeom prst="roundRect">
            <a:avLst>
              <a:gd name="adj" fmla="val 7143"/>
            </a:avLst>
          </a:prstGeom>
          <a:solidFill>
            <a:srgbClr val="17324D"/>
          </a:solidFill>
          <a:ln w="12700">
            <a:solidFill>
              <a:srgbClr val="29486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14400" y="55321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FC1D4"/>
                </a:solidFill>
              </a:rPr>
              <a:t>IC takeaway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2176272" y="5477256"/>
            <a:ext cx="8732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The 8.5x ask is possible, but not the most defensible price under the selected 25% IRR hurdle. The model supports ~8.1x deterministically, ~8.0x at a 50% probability threshold, and ~7.5x at 75%.</a:t>
            </a:r>
            <a:endParaRPr lang="en-US" sz="1120" dirty="0"/>
          </a:p>
        </p:txBody>
      </p:sp>
      <p:sp>
        <p:nvSpPr>
          <p:cNvPr id="13" name="Text 9"/>
          <p:cNvSpPr/>
          <p:nvPr/>
        </p:nvSpPr>
        <p:spPr>
          <a:xfrm>
            <a:off x="914400" y="5925312"/>
            <a:ext cx="9966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6D3E0"/>
                </a:solidFill>
              </a:rPr>
              <a:t>Deliverables: Excel LBO + Reverse LBO | Python risk engine | 15 automated tests | interactive HTML dashboard | reproducible CSV outputs</a:t>
            </a:r>
            <a:endParaRPr lang="en-US" sz="780" dirty="0"/>
          </a:p>
        </p:txBody>
      </p:sp>
      <p:sp>
        <p:nvSpPr>
          <p:cNvPr id="14" name="Text 10"/>
          <p:cNvSpPr/>
          <p:nvPr/>
        </p:nvSpPr>
        <p:spPr>
          <a:xfrm>
            <a:off x="502920" y="6547104"/>
            <a:ext cx="6949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AFC1D4"/>
                </a:solidFill>
              </a:rPr>
              <a:t>PROJECT REDWOOD | FICTIONAL EDUCATIONAL CASE STUDY | SYNTHETIC ASSUMPTIONS</a:t>
            </a:r>
            <a:endParaRPr lang="en-US" sz="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Project Redwood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Take-Private Reverse LBO &amp; Probabilistic Underwriting | Project Redwood</dc:title>
  <dc:subject>Take-Private Reverse LBO &amp; Probabilistic Underwriting</dc:subject>
  <dc:creator>Diogo Alves</dc:creator>
  <cp:lastModifiedBy>Diogo Alves</cp:lastModifiedBy>
  <cp:revision>1</cp:revision>
  <dcterms:created xsi:type="dcterms:W3CDTF">2026-10-01T20:04:21Z</dcterms:created>
  <dcterms:modified xsi:type="dcterms:W3CDTF">2026-10-01T20:04:21Z</dcterms:modified>
</cp:coreProperties>
</file>